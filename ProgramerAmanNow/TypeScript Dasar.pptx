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</p:sldIdLst>
  <p:sldSz cy="5143500" cx="9144000"/>
  <p:notesSz cx="6858000" cy="9144000"/>
  <p:embeddedFontLst>
    <p:embeddedFont>
      <p:font typeface="Raleway"/>
      <p:regular r:id="rId148"/>
      <p:bold r:id="rId149"/>
      <p:italic r:id="rId150"/>
      <p:boldItalic r:id="rId151"/>
    </p:embeddedFont>
    <p:embeddedFont>
      <p:font typeface="Lato"/>
      <p:regular r:id="rId152"/>
      <p:bold r:id="rId153"/>
      <p:italic r:id="rId154"/>
      <p:boldItalic r:id="rId1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5127E9-F925-49E8-8C6A-5E39211946B5}">
  <a:tblStyle styleId="{495127E9-F925-49E8-8C6A-5E39211946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104" Type="http://schemas.openxmlformats.org/officeDocument/2006/relationships/slide" Target="slides/slide97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127" Type="http://schemas.openxmlformats.org/officeDocument/2006/relationships/slide" Target="slides/slide120.xml"/><Relationship Id="rId126" Type="http://schemas.openxmlformats.org/officeDocument/2006/relationships/slide" Target="slides/slide119.xml"/><Relationship Id="rId26" Type="http://schemas.openxmlformats.org/officeDocument/2006/relationships/slide" Target="slides/slide19.xml"/><Relationship Id="rId121" Type="http://schemas.openxmlformats.org/officeDocument/2006/relationships/slide" Target="slides/slide114.xml"/><Relationship Id="rId25" Type="http://schemas.openxmlformats.org/officeDocument/2006/relationships/slide" Target="slides/slide18.xml"/><Relationship Id="rId120" Type="http://schemas.openxmlformats.org/officeDocument/2006/relationships/slide" Target="slides/slide113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125" Type="http://schemas.openxmlformats.org/officeDocument/2006/relationships/slide" Target="slides/slide118.xml"/><Relationship Id="rId29" Type="http://schemas.openxmlformats.org/officeDocument/2006/relationships/slide" Target="slides/slide22.xml"/><Relationship Id="rId124" Type="http://schemas.openxmlformats.org/officeDocument/2006/relationships/slide" Target="slides/slide117.xml"/><Relationship Id="rId123" Type="http://schemas.openxmlformats.org/officeDocument/2006/relationships/slide" Target="slides/slide116.xml"/><Relationship Id="rId122" Type="http://schemas.openxmlformats.org/officeDocument/2006/relationships/slide" Target="slides/slide115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9" Type="http://schemas.openxmlformats.org/officeDocument/2006/relationships/slide" Target="slides/slide112.xml"/><Relationship Id="rId15" Type="http://schemas.openxmlformats.org/officeDocument/2006/relationships/slide" Target="slides/slide8.xml"/><Relationship Id="rId110" Type="http://schemas.openxmlformats.org/officeDocument/2006/relationships/slide" Target="slides/slide103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14" Type="http://schemas.openxmlformats.org/officeDocument/2006/relationships/slide" Target="slides/slide107.xml"/><Relationship Id="rId18" Type="http://schemas.openxmlformats.org/officeDocument/2006/relationships/slide" Target="slides/slide11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150" Type="http://schemas.openxmlformats.org/officeDocument/2006/relationships/font" Target="fonts/Raleway-italic.fntdata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font" Target="fonts/Raleway-bold.fntdata"/><Relationship Id="rId4" Type="http://schemas.openxmlformats.org/officeDocument/2006/relationships/tableStyles" Target="tableStyles.xml"/><Relationship Id="rId148" Type="http://schemas.openxmlformats.org/officeDocument/2006/relationships/font" Target="fonts/Raleway-regular.fntdata"/><Relationship Id="rId9" Type="http://schemas.openxmlformats.org/officeDocument/2006/relationships/slide" Target="slides/slide2.xml"/><Relationship Id="rId143" Type="http://schemas.openxmlformats.org/officeDocument/2006/relationships/slide" Target="slides/slide136.xml"/><Relationship Id="rId142" Type="http://schemas.openxmlformats.org/officeDocument/2006/relationships/slide" Target="slides/slide135.xml"/><Relationship Id="rId141" Type="http://schemas.openxmlformats.org/officeDocument/2006/relationships/slide" Target="slides/slide134.xml"/><Relationship Id="rId140" Type="http://schemas.openxmlformats.org/officeDocument/2006/relationships/slide" Target="slides/slide133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0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9.xml"/><Relationship Id="rId7" Type="http://schemas.openxmlformats.org/officeDocument/2006/relationships/notesMaster" Target="notesMasters/notesMaster1.xml"/><Relationship Id="rId145" Type="http://schemas.openxmlformats.org/officeDocument/2006/relationships/slide" Target="slides/slide138.xml"/><Relationship Id="rId8" Type="http://schemas.openxmlformats.org/officeDocument/2006/relationships/slide" Target="slides/slide1.xml"/><Relationship Id="rId144" Type="http://schemas.openxmlformats.org/officeDocument/2006/relationships/slide" Target="slides/slide13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slide" Target="slides/slide132.xml"/><Relationship Id="rId138" Type="http://schemas.openxmlformats.org/officeDocument/2006/relationships/slide" Target="slides/slide131.xml"/><Relationship Id="rId137" Type="http://schemas.openxmlformats.org/officeDocument/2006/relationships/slide" Target="slides/slide130.xml"/><Relationship Id="rId132" Type="http://schemas.openxmlformats.org/officeDocument/2006/relationships/slide" Target="slides/slide125.xml"/><Relationship Id="rId131" Type="http://schemas.openxmlformats.org/officeDocument/2006/relationships/slide" Target="slides/slide124.xml"/><Relationship Id="rId130" Type="http://schemas.openxmlformats.org/officeDocument/2006/relationships/slide" Target="slides/slide123.xml"/><Relationship Id="rId136" Type="http://schemas.openxmlformats.org/officeDocument/2006/relationships/slide" Target="slides/slide129.xml"/><Relationship Id="rId135" Type="http://schemas.openxmlformats.org/officeDocument/2006/relationships/slide" Target="slides/slide128.xml"/><Relationship Id="rId134" Type="http://schemas.openxmlformats.org/officeDocument/2006/relationships/slide" Target="slides/slide127.xml"/><Relationship Id="rId133" Type="http://schemas.openxmlformats.org/officeDocument/2006/relationships/slide" Target="slides/slide12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154" Type="http://schemas.openxmlformats.org/officeDocument/2006/relationships/font" Target="fonts/Lato-italic.fntdata"/><Relationship Id="rId58" Type="http://schemas.openxmlformats.org/officeDocument/2006/relationships/slide" Target="slides/slide51.xml"/><Relationship Id="rId153" Type="http://schemas.openxmlformats.org/officeDocument/2006/relationships/font" Target="fonts/Lato-bold.fntdata"/><Relationship Id="rId152" Type="http://schemas.openxmlformats.org/officeDocument/2006/relationships/font" Target="fonts/Lato-regular.fntdata"/><Relationship Id="rId151" Type="http://schemas.openxmlformats.org/officeDocument/2006/relationships/font" Target="fonts/Raleway-boldItalic.fntdata"/><Relationship Id="rId155" Type="http://schemas.openxmlformats.org/officeDocument/2006/relationships/font" Target="fonts/La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297985e8a8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297985e8a8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297985e8a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297985e8a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97985e8a8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97985e8a8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297985e8a8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297985e8a8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297985e8a8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297985e8a8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297985e8a8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297985e8a8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97985e8a8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297985e8a8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297985e8a8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297985e8a8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297985e8a8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297985e8a8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297985e8a8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297985e8a8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297985e8a8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297985e8a8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297985e8a8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297985e8a8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297985e8a8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297985e8a8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297985e8a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297985e8a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297985e8a8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297985e8a8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297985e8a8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297985e8a8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297985e8a8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297985e8a8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97985e8a8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297985e8a8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297985e8a8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297985e8a8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297985e8a8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297985e8a8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297985e8a8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297985e8a8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297985e8a8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297985e8a8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297985e8a8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297985e8a8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297985e8a8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297985e8a8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297985e8a8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297985e8a8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297985e8a8_0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297985e8a8_0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297985e8a8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297985e8a8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297985e8a8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297985e8a8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297985e8a8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297985e8a8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297985e8a8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297985e8a8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297985e8a8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297985e8a8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297985e8a8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297985e8a8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297985e8a8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297985e8a8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297985e8a8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297985e8a8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297985e8a8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297985e8a8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297985e8a8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297985e8a8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297985e8a8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297985e8a8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297985e8a8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297985e8a8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297985e8a8_0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297985e8a8_0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297985e8a8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2297985e8a8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297985e8a8_0_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297985e8a8_0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297985e8a8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2297985e8a8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297985e8a8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297985e8a8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297985e8a8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297985e8a8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297985e8a8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297985e8a8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297985e8a8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297985e8a8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297985e8a8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297985e8a8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297985e8a8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297985e8a8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297985e8a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2297985e8a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297985e8a8_0_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297985e8a8_0_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297985e8a8_0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297985e8a8_0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297985e8a8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297985e8a8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297985e8a8_0_7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297985e8a8_0_7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297985e8a8_0_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297985e8a8_0_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297985e8a8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297985e8a8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297985e8a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2297985e8a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297985e8a8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297985e8a8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297985e8a8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297985e8a8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297985e8a8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297985e8a8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297985e8a8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2297985e8a8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297985e8a8_0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297985e8a8_0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297985e8a8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2297985e8a8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297985e8a8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297985e8a8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297985e8a8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297985e8a8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297985e8a8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297985e8a8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2297985e8a8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2297985e8a8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297985e8a8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297985e8a8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297985e8a8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297985e8a8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297985e8a8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2297985e8a8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2297985e8a8_0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2297985e8a8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297985e8a8_0_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2297985e8a8_0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297985e8a8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297985e8a8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297985e8a8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2297985e8a8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297985e8a8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297985e8a8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297985e8a8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297985e8a8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2297985e8a8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2297985e8a8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2297985e8a8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2297985e8a8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297985e8a8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297985e8a8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297985e8a8_0_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297985e8a8_0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2297985e8a8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2297985e8a8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2297985e8a8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2297985e8a8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297985e8a8_0_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2297985e8a8_0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297985e8a8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2297985e8a8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297985e8a8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2297985e8a8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297985e8a8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2297985e8a8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297985e8a8_0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2297985e8a8_0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297985e8a8_0_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2297985e8a8_0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297985e8a8_0_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2297985e8a8_0_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297985e8a8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2297985e8a8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297985e8a8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2297985e8a8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2297985e8a8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2297985e8a8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2297985e8a8_0_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2297985e8a8_0_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2297985e8a8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2297985e8a8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297985e8a8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2297985e8a8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297985e8a8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2297985e8a8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297985e8a8_0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297985e8a8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2297985e8a8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2297985e8a8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2297985e8a8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2297985e8a8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297985e8a8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297985e8a8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2297985e8a8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5" name="Google Shape;745;g2297985e8a8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297985e8a8_0_1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297985e8a8_0_1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297985e8a8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297985e8a8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297985e8a8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297985e8a8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297985e8a8_0_1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297985e8a8_0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297985e8a8_0_1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297985e8a8_0_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297985e8a8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297985e8a8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297985e8a8_0_1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297985e8a8_0_1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297985e8a8_0_1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297985e8a8_0_1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297985e8a8_0_1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297985e8a8_0_1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297985e8a8_0_10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297985e8a8_0_1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297985e8a8_0_1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297985e8a8_0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297985e8a8_0_1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297985e8a8_0_1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297985e8a8_0_1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297985e8a8_0_1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297985e8a8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297985e8a8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2297985e8a8_0_10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297985e8a8_0_10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297985e8a8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297985e8a8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297985e8a8_0_1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297985e8a8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297985e8a8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297985e8a8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297985e8a8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297985e8a8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297985e8a8_0_1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297985e8a8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297985e8a8_0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297985e8a8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297985e8a8_0_1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297985e8a8_0_1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2297985e8a8_0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6" name="Google Shape;876;g2297985e8a8_0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297985e8a8_0_7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297985e8a8_0_7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297985e8a8_0_1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297985e8a8_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2297985e8a8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2297985e8a8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297985e8a8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297985e8a8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297985e8a8_0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297985e8a8_0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297985e8a8_0_1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297985e8a8_0_1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297985e8a8_0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297985e8a8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297985e8a8_0_1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297985e8a8_0_1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297985e8a8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2297985e8a8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2297985e8a8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2297985e8a8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297985e8a8_0_1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297985e8a8_0_1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297985e8a8_0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297985e8a8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297985e8a8_0_1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297985e8a8_0_1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2297985e8a8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2297985e8a8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297985e8a8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2297985e8a8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2297985e8a8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2297985e8a8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www.linkedin.com/company/programmer-zaman-now/" TargetMode="External"/><Relationship Id="rId9" Type="http://schemas.openxmlformats.org/officeDocument/2006/relationships/hyperlink" Target="https://tiktok.com/@programmerzamannow" TargetMode="External"/><Relationship Id="rId5" Type="http://schemas.openxmlformats.org/officeDocument/2006/relationships/hyperlink" Target="https://facebook.com/ProgrammerZamanNow" TargetMode="External"/><Relationship Id="rId6" Type="http://schemas.openxmlformats.org/officeDocument/2006/relationships/hyperlink" Target="https://www.instagram.com/programmerzamannow" TargetMode="External"/><Relationship Id="rId7" Type="http://schemas.openxmlformats.org/officeDocument/2006/relationships/hyperlink" Target="https://www.youtube.com/c/ProgrammerZamanNow" TargetMode="External"/><Relationship Id="rId8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typescriptlang.org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npmjs.com/package/jes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babeljs.io/setup#installation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npmjs.com/package/typescrip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jestjs.io/docs/getting-started#using-typescrip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typescriptlang.org/tsconfig#include" TargetMode="External"/><Relationship Id="rId4" Type="http://schemas.openxmlformats.org/officeDocument/2006/relationships/hyperlink" Target="https://www.typescriptlang.org/tsconfig#exclud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0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7.png"/><Relationship Id="rId4" Type="http://schemas.openxmlformats.org/officeDocument/2006/relationships/image" Target="../media/image1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9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8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5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6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6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23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8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33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27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38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0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32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41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39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43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4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48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42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47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49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46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50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51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TypeScript Dasar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6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12+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Linkedin : </a:t>
            </a:r>
            <a:r>
              <a:rPr lang="id" u="sng">
                <a:solidFill>
                  <a:schemeClr val="hlink"/>
                </a:solidFill>
                <a:hlinkClick r:id="rId4"/>
              </a:rPr>
              <a:t>https://www.linkedin.com/company/programmer-zaman-now/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5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6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7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8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Tiktok : </a:t>
            </a:r>
            <a:r>
              <a:rPr lang="id" u="sng">
                <a:solidFill>
                  <a:schemeClr val="hlink"/>
                </a:solidFill>
                <a:hlinkClick r:id="rId9"/>
              </a:rPr>
              <a:t>https://tiktok.com/@programmerzamannow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Kelas JavaScript dari Programmer Zaman 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Kelas NodeJS dari Programmer Zaman Now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TypeScript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 TypeScript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TypeScript adalah bahasa pemrograman berorientasi objek yang dibuat oleh Microsoft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TypeScript adalah bahasa pemrograman yang di kompilasi menjadi kode JavaScript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Menggunakan TypeScript akan membuat kode kita lebih mudah di baca dan di debug dibandingkan menggunakan JavaScript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TypeScript adalah bahasa pemrograman yang Strongly Type (Seperti Java, C#, dan C/C++)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https://www.typescriptlang.org/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Proses Development TypeScript</a:t>
            </a:r>
            <a:endParaRPr/>
          </a:p>
        </p:txBody>
      </p:sp>
      <p:sp>
        <p:nvSpPr>
          <p:cNvPr id="200" name="Google Shape;200;p31"/>
          <p:cNvSpPr/>
          <p:nvPr/>
        </p:nvSpPr>
        <p:spPr>
          <a:xfrm>
            <a:off x="997525" y="2571750"/>
            <a:ext cx="1905000" cy="5889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TypeScript Code</a:t>
            </a:r>
            <a:endParaRPr/>
          </a:p>
        </p:txBody>
      </p:sp>
      <p:sp>
        <p:nvSpPr>
          <p:cNvPr id="201" name="Google Shape;201;p31"/>
          <p:cNvSpPr/>
          <p:nvPr/>
        </p:nvSpPr>
        <p:spPr>
          <a:xfrm>
            <a:off x="6241475" y="2571750"/>
            <a:ext cx="1905000" cy="5889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JavaScript Code</a:t>
            </a:r>
            <a:endParaRPr/>
          </a:p>
        </p:txBody>
      </p:sp>
      <p:sp>
        <p:nvSpPr>
          <p:cNvPr id="202" name="Google Shape;202;p31"/>
          <p:cNvSpPr/>
          <p:nvPr/>
        </p:nvSpPr>
        <p:spPr>
          <a:xfrm>
            <a:off x="3619500" y="2571750"/>
            <a:ext cx="1905000" cy="5889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tsc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(TypeScript Compiler)</a:t>
            </a:r>
            <a:endParaRPr/>
          </a:p>
        </p:txBody>
      </p:sp>
      <p:cxnSp>
        <p:nvCxnSpPr>
          <p:cNvPr id="203" name="Google Shape;203;p31"/>
          <p:cNvCxnSpPr>
            <a:stCxn id="200" idx="3"/>
            <a:endCxn id="202" idx="1"/>
          </p:cNvCxnSpPr>
          <p:nvPr/>
        </p:nvCxnSpPr>
        <p:spPr>
          <a:xfrm>
            <a:off x="2902525" y="2866200"/>
            <a:ext cx="71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31"/>
          <p:cNvCxnSpPr>
            <a:stCxn id="202" idx="3"/>
            <a:endCxn id="201" idx="1"/>
          </p:cNvCxnSpPr>
          <p:nvPr/>
        </p:nvCxnSpPr>
        <p:spPr>
          <a:xfrm>
            <a:off x="5524500" y="2866200"/>
            <a:ext cx="717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Keuntungan Belajar TypeScript</a:t>
            </a:r>
            <a:endParaRPr/>
          </a:p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ini banyak sekali perusahaan yang mulai mengadopsi TypeScript, hal ini karena banyak fitur yang dimiliki oleh TypeScript yang sangat memudahkan saat proses pemrograman aplikasi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Karena TypeScript melakukan kompilasi kode menjadi JavaScript, hal ini secara otomatis kita tidak perlu lagi pusing dengan fitur-fitur di JavaScript yang belum di support, karena TypeScript secara otomatis akan mengurusnya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itu, banyak juga framework-framework yang populer sekarang mulai beralih menggunakan TypeScript, seperti ReactJS, VueJS, NestJS, dan lain-lain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Buat folder belajar-typescript-dasar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Buka package.json, dan tambah type module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Library Jest untuk Unit Test</a:t>
            </a:r>
            <a:endParaRPr/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--save-dev jest @types/jest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https://www.npmjs.com/package/jest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Library Babel</a:t>
            </a:r>
            <a:endParaRPr/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--save-dev babel-jest @babel/preset-env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https://babeljs.io/setup#installation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Setup TypeScript Project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TypeScript</a:t>
            </a:r>
            <a:endParaRPr/>
          </a:p>
        </p:txBody>
      </p:sp>
      <p:sp>
        <p:nvSpPr>
          <p:cNvPr id="244" name="Google Shape;244;p3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npm install --save-dev typescript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https://www.npmjs.com/package/typescript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Setup TypeScript Project</a:t>
            </a:r>
            <a:endParaRPr/>
          </a:p>
        </p:txBody>
      </p:sp>
      <p:sp>
        <p:nvSpPr>
          <p:cNvPr id="250" name="Google Shape;250;p3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npx tsc --init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Semua konfigurasi akan dibuat di file tsconfig.json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Ubah “module” dari “</a:t>
            </a:r>
            <a:r>
              <a:rPr lang="id"/>
              <a:t>commonjs</a:t>
            </a:r>
            <a:r>
              <a:rPr lang="id"/>
              <a:t>” menjadi “</a:t>
            </a:r>
            <a:r>
              <a:rPr lang="id"/>
              <a:t>ES6</a:t>
            </a:r>
            <a:r>
              <a:rPr lang="id"/>
              <a:t>”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Setup TypeScript untuk Jest</a:t>
            </a:r>
            <a:endParaRPr/>
          </a:p>
        </p:txBody>
      </p:sp>
      <p:sp>
        <p:nvSpPr>
          <p:cNvPr id="256" name="Google Shape;256;p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https://jestjs.io/docs/getting-started#using-typescript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Say Hello Function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Say Hello Function</a:t>
            </a:r>
            <a:endParaRPr/>
          </a:p>
        </p:txBody>
      </p:sp>
      <p:sp>
        <p:nvSpPr>
          <p:cNvPr id="267" name="Google Shape;267;p4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 mulai belajar, kita akan coba buat say hello function dengan file TypeScript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src/say-hello.ts</a:t>
            </a:r>
            <a:endParaRPr/>
          </a:p>
        </p:txBody>
      </p:sp>
      <p:pic>
        <p:nvPicPr>
          <p:cNvPr id="273" name="Google Shape;27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2398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tests/say-hello.test.ts</a:t>
            </a:r>
            <a:endParaRPr/>
          </a:p>
        </p:txBody>
      </p:sp>
      <p:pic>
        <p:nvPicPr>
          <p:cNvPr id="279" name="Google Shape;27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549368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npm test</a:t>
            </a:r>
            <a:endParaRPr/>
          </a:p>
        </p:txBody>
      </p:sp>
      <p:pic>
        <p:nvPicPr>
          <p:cNvPr id="285" name="Google Shape;28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6" cy="28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Kompilasi TypeScript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Kompilasi TypeScript</a:t>
            </a:r>
            <a:endParaRPr/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Seperti yang dijelaskan di awal, bahwa kode TypeScript tidak bisa langsung dijalankan, kita harus melakukan kompilasi terlebih dahulu menjadi JavaScript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menggunakan perintah : npx tsc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default, semua file hasil kompilasi akan disimpan di lokasi yang sama dengan file TypeScript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Kadang, praktek programmer TypeScript biasanya memisahkan lokasi hasil kompilasi ke sebuah folder misal dist (distribution)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mengubah lokasi file hasil kompilasi, kita perlu ubah di tsconfig.json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Mengubah Lokasi Hasil Kompilasi</a:t>
            </a:r>
            <a:endParaRPr/>
          </a:p>
        </p:txBody>
      </p:sp>
      <p:pic>
        <p:nvPicPr>
          <p:cNvPr id="302" name="Google Shape;30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571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Include dan Exclude</a:t>
            </a:r>
            <a:endParaRPr/>
          </a:p>
        </p:txBody>
      </p:sp>
      <p:sp>
        <p:nvSpPr>
          <p:cNvPr id="308" name="Google Shape;308;p4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default, semua file ts akan coba dikompilasi oleh TypeScript, kadang-kadang kita tidak membutuhkan hal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Misal kita hanya ingin melakukan kompilasi untuk kode program, dan tidak butuh melakukan kompilasi untuk kode unit 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tambahkan include dan exclude pada tsconfig.json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https://www.typescriptlang.org/tsconfig#include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https://www.typescriptlang.org/tsconfig#exclude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Include dan Exclude</a:t>
            </a:r>
            <a:endParaRPr/>
          </a:p>
        </p:txBody>
      </p:sp>
      <p:pic>
        <p:nvPicPr>
          <p:cNvPr id="314" name="Google Shape;31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2912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Primitif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Primitif</a:t>
            </a:r>
            <a:endParaRPr/>
          </a:p>
        </p:txBody>
      </p:sp>
      <p:sp>
        <p:nvSpPr>
          <p:cNvPr id="325" name="Google Shape;325;p5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TypeScript menggunakan tipe data di JavaScript, sehingga semua tipe data seperti string, number, boolean otomatis didukung oleh TypeScript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Daftar Tipe Data Primitif</a:t>
            </a:r>
            <a:endParaRPr/>
          </a:p>
        </p:txBody>
      </p:sp>
      <p:graphicFrame>
        <p:nvGraphicFramePr>
          <p:cNvPr id="331" name="Google Shape;331;p53"/>
          <p:cNvGraphicFramePr/>
          <p:nvPr/>
        </p:nvGraphicFramePr>
        <p:xfrm>
          <a:off x="9525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{495127E9-F925-49E8-8C6A-5E39211946B5}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Tipe Data Primitif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Keterangan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number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Number di JavaScript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boolean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Boolean di JavaScript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 di JavaScript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Deklarasi Variabel</a:t>
            </a:r>
            <a:endParaRPr/>
          </a:p>
        </p:txBody>
      </p:sp>
      <p:sp>
        <p:nvSpPr>
          <p:cNvPr id="337" name="Google Shape;337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Karena TypeScript adalah Strongly Type Language, oleh karena itu saat kita membuat variabel, kita harus menentukan tipe data variabel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Dan jika kita sudah menentukan tipe datanya, kita tidak boleh mengubah variabel tersebut menjadi tipe data yang berbeda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TypeScript bisa secara otomatis mendeteksi tipe data yang sedang digunakan, tapi kita juga bisa menentukan secara </a:t>
            </a:r>
            <a:r>
              <a:rPr lang="id"/>
              <a:t>eksplisit</a:t>
            </a:r>
            <a:r>
              <a:rPr lang="id"/>
              <a:t> menggunakan :</a:t>
            </a:r>
            <a:br>
              <a:rPr lang="id"/>
            </a:br>
            <a:r>
              <a:rPr lang="id"/>
              <a:t>const namaVariable : tipedata = value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Tipe Data Primitif</a:t>
            </a:r>
            <a:endParaRPr/>
          </a:p>
        </p:txBody>
      </p:sp>
      <p:pic>
        <p:nvPicPr>
          <p:cNvPr id="343" name="Google Shape;34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7" cy="2298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Babel TypeScript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Babel TypeScript</a:t>
            </a:r>
            <a:endParaRPr/>
          </a:p>
        </p:txBody>
      </p:sp>
      <p:sp>
        <p:nvSpPr>
          <p:cNvPr id="354" name="Google Shape;354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menjalankan unit test, kita menggunakan Jest dan Babel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Banyak programmer TypeScript yang mengeluh ketika proses development, menggunakan TypeScript lebih lambat karena harus melakukan kompilasi terlebih dahulu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Oleh karena itu, @babel/typescript melakukan cara kompilasi nya dengan cara menghapus seluruh kode TypeScript dan menjadikan kode JavaScript, hal ini memang lucu, tapi inilah kenyataannya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Oleh karena itu, error TypeScript yang sering harusnya terjadi di Unit Test kadang tidak terjadi karena kode TypeScript dihapus oleh Babel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Oleh karena itu, kita harus secara regular melakukan pengecekan menggunakan perintah : npx tsc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memastikan tidak ada kode TypeScript kita yang bermasalah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Error TypeScript</a:t>
            </a:r>
            <a:endParaRPr/>
          </a:p>
        </p:txBody>
      </p:sp>
      <p:pic>
        <p:nvPicPr>
          <p:cNvPr id="360" name="Google Shape;36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64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TypeScript Compiler</a:t>
            </a:r>
            <a:endParaRPr/>
          </a:p>
        </p:txBody>
      </p:sp>
      <p:sp>
        <p:nvSpPr>
          <p:cNvPr id="366" name="Google Shape;366;p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menjalankan TypeScript Compiler secara terus menerus, kita juga bisa menggunakan perintah :</a:t>
            </a:r>
            <a:br>
              <a:rPr lang="id"/>
            </a:br>
            <a:r>
              <a:rPr lang="id"/>
              <a:t>npx tsc --watch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Array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Array</a:t>
            </a:r>
            <a:endParaRPr/>
          </a:p>
        </p:txBody>
      </p:sp>
      <p:sp>
        <p:nvSpPr>
          <p:cNvPr id="377" name="Google Shape;377;p6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Tipe data array di TypeScript juga sama seperti di JavaScript, cara pembuatannya dan penggunaannya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TS tipe data Array bisa menggunakan tanda TipeData[] atau Array&lt;TipeData&gt;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Tipe Data Array</a:t>
            </a:r>
            <a:endParaRPr/>
          </a:p>
        </p:txBody>
      </p:sp>
      <p:pic>
        <p:nvPicPr>
          <p:cNvPr id="383" name="Google Shape;38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1862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Read Only Array</a:t>
            </a:r>
            <a:endParaRPr/>
          </a:p>
        </p:txBody>
      </p:sp>
      <p:sp>
        <p:nvSpPr>
          <p:cNvPr id="389" name="Google Shape;389;p6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TypeScript, kita bisa membuat Array dengan tipe readonly (tidak bisa diubah lagi) dengan menggunakan tipe data ReadonlyArray&lt;TipeData&gt;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Read Only Array</a:t>
            </a:r>
            <a:endParaRPr/>
          </a:p>
        </p:txBody>
      </p:sp>
      <p:pic>
        <p:nvPicPr>
          <p:cNvPr id="395" name="Google Shape;39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001000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Tuple</a:t>
            </a:r>
            <a:endParaRPr/>
          </a:p>
        </p:txBody>
      </p:sp>
      <p:sp>
        <p:nvSpPr>
          <p:cNvPr id="401" name="Google Shape;401;p6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Tuple adalah tipe data Array, yang panjang array dan juga tipe data di tiap index sudah ditentukan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kasus tuple bersifat read only (tidak bisa diubah), kita bisa tambahkan kata kunci readonly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Tuple</a:t>
            </a:r>
            <a:endParaRPr/>
          </a:p>
        </p:txBody>
      </p:sp>
      <p:pic>
        <p:nvPicPr>
          <p:cNvPr id="407" name="Google Shape;40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2060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Any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Tipe Data Any</a:t>
            </a:r>
            <a:endParaRPr/>
          </a:p>
        </p:txBody>
      </p:sp>
      <p:sp>
        <p:nvSpPr>
          <p:cNvPr id="418" name="Google Shape;418;p6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menggunakan TypeScript, setiap jenis data idealnya ada deklarasi datanya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 saat kita ingin menggunakan tipe data JavaScript Object, idealnya harusnya ada ketentuan attribute yang dimilikinya, sedangkan di JavaScript hal itu tidak diwajibkan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kasus kita memang ingin membuat tipe data yang bebas seperti di JavaScript, kita bisa gunakan tipe data Any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Tipe data Any tersebut menjadikan TypeScript tidak melakukan pengecekan apapun terhadap akses terhadap data tersebut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Tipe Data Any</a:t>
            </a:r>
            <a:endParaRPr/>
          </a:p>
        </p:txBody>
      </p:sp>
      <p:pic>
        <p:nvPicPr>
          <p:cNvPr id="424" name="Google Shape;42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3" cy="2685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Union Type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Union Type</a:t>
            </a:r>
            <a:endParaRPr/>
          </a:p>
        </p:txBody>
      </p:sp>
      <p:sp>
        <p:nvSpPr>
          <p:cNvPr id="435" name="Google Shape;435;p7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Seperti yang sudah kita tahu, JavaScript sebenarnya bisa menyimpan berbagai jenis tipe data di variabel yang sama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di TypeScript, hal itu dilarang karena praktek yang buruk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kasus jika kita ingin membuat variabel yang bisa berubah bentuk tipe data, kita bisa memberi tahunya menggunakan union type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otomatis TypeScript akan membolehkan kita mengubah tipe data, namun sesuai yang sudah ditentukan di union type nya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Union Type</a:t>
            </a:r>
            <a:endParaRPr/>
          </a:p>
        </p:txBody>
      </p:sp>
      <p:pic>
        <p:nvPicPr>
          <p:cNvPr id="441" name="Google Shape;44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8" cy="2116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Menggunakan Union Type</a:t>
            </a:r>
            <a:endParaRPr/>
          </a:p>
        </p:txBody>
      </p:sp>
      <p:sp>
        <p:nvSpPr>
          <p:cNvPr id="447" name="Google Shape;447;p7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Union Type, kita perlu berhati-hati ketika memanggil method terhadap variabel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karena tipe datanya bisa berubah, oleh karena itu ada baiknya kita melakukan pengecekan tipe data terlebih dahulu menggunakan typeof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Menggunakan Union Type</a:t>
            </a:r>
            <a:endParaRPr/>
          </a:p>
        </p:txBody>
      </p:sp>
      <p:pic>
        <p:nvPicPr>
          <p:cNvPr id="453" name="Google Shape;45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709277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Alias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Alias</a:t>
            </a:r>
            <a:endParaRPr/>
          </a:p>
        </p:txBody>
      </p:sp>
      <p:sp>
        <p:nvSpPr>
          <p:cNvPr id="464" name="Google Shape;464;p7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Menggunakan tipe data Any sebenarnya tidak direkomendasikan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kita akan menggunakan tipe data Any, jika memang datanya kita gunakan misal dari library orang lain yang sudah tidak bisa diubah, atau memang ketika attribute nya tidak pasti datanya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kasus jika kita membuat tipe data JavaScript object sendiri, kita bisa membuat alias untuk struktur tipe data objectnya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Alias</a:t>
            </a:r>
            <a:endParaRPr/>
          </a:p>
        </p:txBody>
      </p:sp>
      <p:pic>
        <p:nvPicPr>
          <p:cNvPr id="470" name="Google Shape;470;p77"/>
          <p:cNvPicPr preferRelativeResize="0"/>
          <p:nvPr/>
        </p:nvPicPr>
        <p:blipFill rotWithShape="1">
          <a:blip r:embed="rId3">
            <a:alphaModFix/>
          </a:blip>
          <a:srcRect b="0" l="0" r="0" t="15009"/>
          <a:stretch/>
        </p:blipFill>
        <p:spPr>
          <a:xfrm>
            <a:off x="152400" y="2045275"/>
            <a:ext cx="7825149" cy="253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Test Alias</a:t>
            </a:r>
            <a:endParaRPr/>
          </a:p>
        </p:txBody>
      </p:sp>
      <p:pic>
        <p:nvPicPr>
          <p:cNvPr id="476" name="Google Shape;47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755201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Alias untuk Union Type</a:t>
            </a:r>
            <a:endParaRPr/>
          </a:p>
        </p:txBody>
      </p:sp>
      <p:sp>
        <p:nvSpPr>
          <p:cNvPr id="482" name="Google Shape;482;p7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 Alias juga bisa digunakan untuk membuat union type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Type Alias untuk Union Type</a:t>
            </a:r>
            <a:endParaRPr/>
          </a:p>
        </p:txBody>
      </p:sp>
      <p:pic>
        <p:nvPicPr>
          <p:cNvPr id="488" name="Google Shape;488;p80"/>
          <p:cNvPicPr preferRelativeResize="0"/>
          <p:nvPr/>
        </p:nvPicPr>
        <p:blipFill rotWithShape="1">
          <a:blip r:embed="rId3">
            <a:alphaModFix/>
          </a:blip>
          <a:srcRect b="0" l="0" r="0" t="11964"/>
          <a:stretch/>
        </p:blipFill>
        <p:spPr>
          <a:xfrm>
            <a:off x="144825" y="2090700"/>
            <a:ext cx="6905250" cy="262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Object Type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Object Type</a:t>
            </a:r>
            <a:endParaRPr/>
          </a:p>
        </p:txBody>
      </p:sp>
      <p:sp>
        <p:nvSpPr>
          <p:cNvPr id="499" name="Google Shape;499;p8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kasus yang sederhana, kadang membuat alias terlalu bertele-tele, kita juga bisa membuat tipe data JavaScript Object secara langsung dengan mendeklarasikan detail type nya ketika membuat  variabel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lebih sederhana dibandingkan membuat Type terlebih dahulu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Object Type</a:t>
            </a:r>
            <a:endParaRPr/>
          </a:p>
        </p:txBody>
      </p:sp>
      <p:pic>
        <p:nvPicPr>
          <p:cNvPr id="505" name="Google Shape;50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510242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Optional Properties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Optional Properties</a:t>
            </a:r>
            <a:endParaRPr/>
          </a:p>
        </p:txBody>
      </p:sp>
      <p:sp>
        <p:nvSpPr>
          <p:cNvPr id="516" name="Google Shape;516;p8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default, saat kita membuat attribute di Object atau Type, maka attribute tersebut wajib diisi nilainya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Namun, kadang-kadang tidak semua attribute itu wajib diisi nilainya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kasus attribute nya tidak wajib diisi, kita bisa tambahkan tanda ? untuk menandakan bahwa itu adalah optional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Optional Properties</a:t>
            </a:r>
            <a:endParaRPr/>
          </a:p>
        </p:txBody>
      </p:sp>
      <p:pic>
        <p:nvPicPr>
          <p:cNvPr id="522" name="Google Shape;522;p86"/>
          <p:cNvPicPr preferRelativeResize="0"/>
          <p:nvPr/>
        </p:nvPicPr>
        <p:blipFill rotWithShape="1">
          <a:blip r:embed="rId3">
            <a:alphaModFix/>
          </a:blip>
          <a:srcRect b="0" l="0" r="53503" t="0"/>
          <a:stretch/>
        </p:blipFill>
        <p:spPr>
          <a:xfrm>
            <a:off x="152400" y="2006250"/>
            <a:ext cx="3445774" cy="29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0574" y="2006250"/>
            <a:ext cx="5241024" cy="2444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Enum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Enum</a:t>
            </a:r>
            <a:endParaRPr/>
          </a:p>
        </p:txBody>
      </p:sp>
      <p:sp>
        <p:nvSpPr>
          <p:cNvPr id="534" name="Google Shape;534;p8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TypeScript memiliki tipe data enum, yaitu tipe data yang nilainya sudah pasti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Tipe data ini tidak dimiliki di JavaScript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 tipe data enum ini akan dikonversi menjadi string di JavasScript, namun bisa juga dikonversi menjadi number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Enum</a:t>
            </a:r>
            <a:endParaRPr/>
          </a:p>
        </p:txBody>
      </p:sp>
      <p:pic>
        <p:nvPicPr>
          <p:cNvPr id="540" name="Google Shape;54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555005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Menggunakan Enum</a:t>
            </a:r>
            <a:endParaRPr/>
          </a:p>
        </p:txBody>
      </p:sp>
      <p:pic>
        <p:nvPicPr>
          <p:cNvPr id="546" name="Google Shape;54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660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9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Enum di JavaScript</a:t>
            </a:r>
            <a:endParaRPr/>
          </a:p>
        </p:txBody>
      </p:sp>
      <p:sp>
        <p:nvSpPr>
          <p:cNvPr id="552" name="Google Shape;552;p9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default, enum di TypeScript akan dikonversi menjadi tipe data number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 kita ingin ubah dari number menjadi String, kita bisa lakukan hal itu ketika membuat enum nya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Enum sebagai String</a:t>
            </a:r>
            <a:endParaRPr/>
          </a:p>
        </p:txBody>
      </p:sp>
      <p:pic>
        <p:nvPicPr>
          <p:cNvPr id="558" name="Google Shape;55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471175" cy="29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Null dan Undefined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Null dan Undefined</a:t>
            </a:r>
            <a:endParaRPr/>
          </a:p>
        </p:txBody>
      </p:sp>
      <p:sp>
        <p:nvSpPr>
          <p:cNvPr id="569" name="Google Shape;569;p9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menggunakan ? pada variabel atau parameter, secara otomatis kita bisa mengirim data undefined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Tapi kadang, kadang, ada kasus kita juga ingin mengirim data null, pada kasus ini kita juga bisa menggunakan tipe data null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Undefined</a:t>
            </a:r>
            <a:endParaRPr/>
          </a:p>
        </p:txBody>
      </p:sp>
      <p:pic>
        <p:nvPicPr>
          <p:cNvPr id="575" name="Google Shape;57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35231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9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Null</a:t>
            </a:r>
            <a:endParaRPr/>
          </a:p>
        </p:txBody>
      </p:sp>
      <p:pic>
        <p:nvPicPr>
          <p:cNvPr id="581" name="Google Shape;58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476548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9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Interface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9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Interface</a:t>
            </a:r>
            <a:endParaRPr/>
          </a:p>
        </p:txBody>
      </p:sp>
      <p:sp>
        <p:nvSpPr>
          <p:cNvPr id="592" name="Google Shape;592;p9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Interface adalah cara lain melakukan deklarasi data selain menggunakan Type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Lantas kalo begitu, apa bedanya Interface dan Type?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Interface bisa dikembangkan dengan mudah dibanding dengan Type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Oleh karena itu, kebanyakan untuk tipe data yang kompleks, kebanyakan programmer TypeScript akan menggunakan Interface dibandingkan menggunakan Type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9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Interface</a:t>
            </a:r>
            <a:endParaRPr/>
          </a:p>
        </p:txBody>
      </p:sp>
      <p:pic>
        <p:nvPicPr>
          <p:cNvPr id="598" name="Google Shape;598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2754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Menggunakan Interface</a:t>
            </a:r>
            <a:endParaRPr/>
          </a:p>
        </p:txBody>
      </p:sp>
      <p:pic>
        <p:nvPicPr>
          <p:cNvPr id="604" name="Google Shape;60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1" cy="2076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0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Readonly Properties</a:t>
            </a:r>
            <a:endParaRPr/>
          </a:p>
        </p:txBody>
      </p:sp>
      <p:sp>
        <p:nvSpPr>
          <p:cNvPr id="610" name="Google Shape;610;p10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Properties dapat kita jadikan readonly, yang artinya tidak bisa diubah lagi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menggunakan kata kunci readonly pada attribute tersebut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0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Readonly Properties</a:t>
            </a:r>
            <a:endParaRPr/>
          </a:p>
        </p:txBody>
      </p:sp>
      <p:pic>
        <p:nvPicPr>
          <p:cNvPr id="616" name="Google Shape;616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80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0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Interface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0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Interface</a:t>
            </a:r>
            <a:endParaRPr/>
          </a:p>
        </p:txBody>
      </p:sp>
      <p:sp>
        <p:nvSpPr>
          <p:cNvPr id="627" name="Google Shape;627;p10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TypeScript, kita juga bisa membuat deklarasi Function dalam bentuk Interface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demikian ketika kita ingin membuat variabel yang berisi function, kita bisa dengan mudah menggunakan interface tersebut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10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Function Interface</a:t>
            </a:r>
            <a:endParaRPr/>
          </a:p>
        </p:txBody>
      </p:sp>
      <p:pic>
        <p:nvPicPr>
          <p:cNvPr id="633" name="Google Shape;633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167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0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Indexable Interface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0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Indexable Interface</a:t>
            </a:r>
            <a:endParaRPr/>
          </a:p>
        </p:txBody>
      </p:sp>
      <p:sp>
        <p:nvSpPr>
          <p:cNvPr id="644" name="Google Shape;644;p10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Interface juga bisa digunakan untuk membuat tipe data dengan jenis yang memiliki index, seperti Array atau Object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0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Array</a:t>
            </a:r>
            <a:endParaRPr/>
          </a:p>
        </p:txBody>
      </p:sp>
      <p:pic>
        <p:nvPicPr>
          <p:cNvPr id="650" name="Google Shape;650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2879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0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Object</a:t>
            </a:r>
            <a:endParaRPr/>
          </a:p>
        </p:txBody>
      </p:sp>
      <p:pic>
        <p:nvPicPr>
          <p:cNvPr id="656" name="Google Shape;656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632148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1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Extending Interface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1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Extending Interface</a:t>
            </a:r>
            <a:endParaRPr/>
          </a:p>
        </p:txBody>
      </p:sp>
      <p:sp>
        <p:nvSpPr>
          <p:cNvPr id="667" name="Google Shape;667;p11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Interface bisa melanjutkan (extends) ke Interface 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otomatis attribute Interface yang dilanjutkan dimiliki juga oleh interface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Ini membuat kita lebih mudah ketika membuat tipe data yang kompleks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Employee</a:t>
            </a:r>
            <a:endParaRPr/>
          </a:p>
        </p:txBody>
      </p:sp>
      <p:pic>
        <p:nvPicPr>
          <p:cNvPr id="673" name="Google Shape;673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58741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Extending Interface</a:t>
            </a:r>
            <a:endParaRPr/>
          </a:p>
        </p:txBody>
      </p:sp>
      <p:pic>
        <p:nvPicPr>
          <p:cNvPr id="679" name="Google Shape;679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297116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1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di Interface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di Interface</a:t>
            </a:r>
            <a:endParaRPr/>
          </a:p>
        </p:txBody>
      </p:sp>
      <p:sp>
        <p:nvSpPr>
          <p:cNvPr id="690" name="Google Shape;690;p1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Implementasi dari Interface di JavaScript sebenarnya adalah sebuah object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Seperti yang kita tahu, di JavaScript, kita bisa menambahkan function sebagai attribute di object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juga bisa kita lakukan di Interface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Interface Person</a:t>
            </a:r>
            <a:endParaRPr/>
          </a:p>
        </p:txBody>
      </p:sp>
      <p:pic>
        <p:nvPicPr>
          <p:cNvPr id="696" name="Google Shape;696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695325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Function di Interface</a:t>
            </a:r>
            <a:endParaRPr/>
          </a:p>
        </p:txBody>
      </p:sp>
      <p:pic>
        <p:nvPicPr>
          <p:cNvPr id="702" name="Google Shape;702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2636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1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Intersection Types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Intersection Types</a:t>
            </a:r>
            <a:endParaRPr/>
          </a:p>
        </p:txBody>
      </p:sp>
      <p:sp>
        <p:nvSpPr>
          <p:cNvPr id="713" name="Google Shape;713;p1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Intersection merupakan cara membuat tipe data baru dengan cara menggabungkan dua tipe data 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sangat cocok ketika kita tidak bisa melakukan extends pada Interface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membuat type dengan menggunakan kata kunci &amp; (dan)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Intersection Types</a:t>
            </a:r>
            <a:endParaRPr/>
          </a:p>
        </p:txBody>
      </p:sp>
      <p:pic>
        <p:nvPicPr>
          <p:cNvPr id="719" name="Google Shape;719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62794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Menggunakan Intersection Types</a:t>
            </a:r>
            <a:endParaRPr/>
          </a:p>
        </p:txBody>
      </p:sp>
      <p:pic>
        <p:nvPicPr>
          <p:cNvPr id="725" name="Google Shape;725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1628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2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Assertions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Type Assertions</a:t>
            </a:r>
            <a:endParaRPr/>
          </a:p>
        </p:txBody>
      </p:sp>
      <p:sp>
        <p:nvSpPr>
          <p:cNvPr id="736" name="Google Shape;736;p1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Kadang, kita sering berada pada situasi dimana kita tahu tipe data yang kita gunakan, namun TypeScript tidak tahu tipe data tersebut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pada kasus kita menggunakan kode dari JavaScript sehingga membuat return value nya berupa tipe data Any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kasus ini, kita bisa melakukan konversi ke tipe data yang kita mau menggunakan kata kunci as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Ini disebut dengan type assertions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1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</a:t>
            </a:r>
            <a:endParaRPr/>
          </a:p>
        </p:txBody>
      </p:sp>
      <p:pic>
        <p:nvPicPr>
          <p:cNvPr id="742" name="Google Shape;742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156056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2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1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</a:t>
            </a:r>
            <a:endParaRPr/>
          </a:p>
        </p:txBody>
      </p:sp>
      <p:sp>
        <p:nvSpPr>
          <p:cNvPr id="753" name="Google Shape;753;p1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Sama seperti di JavaScript, TypeScript juga mendukung pembuatan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Cara pembuatan function di TypeScript pun sama dengan di JavaScript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Salah satu yang membedakan adalah, pada parameter kita perlu menentukan tipe data, dan pada function kita juga perlu menentukan tipe data return value 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kasus function tersebut tidak mengembalikan value, kita bisa menggunakan tipe data void, atau tidak perlu menyebutkan sama sekali seperti di JavaScript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Say Hello Function</a:t>
            </a:r>
            <a:endParaRPr/>
          </a:p>
        </p:txBody>
      </p:sp>
      <p:pic>
        <p:nvPicPr>
          <p:cNvPr id="759" name="Google Shape;759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026488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2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Parameter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Parameter</a:t>
            </a:r>
            <a:endParaRPr/>
          </a:p>
        </p:txBody>
      </p:sp>
      <p:sp>
        <p:nvSpPr>
          <p:cNvPr id="770" name="Google Shape;770;p1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Sama seperti di JavaScript, function di TypeScript bisa memiliki banyak parameter, rest parameter (variable argument) sampai default value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Fitur yang berbeda dengan JavaScript adalah, di TypeScript setiap parameter wajib diisi, kecuali kita tentukan sebagai optional menggunakan ? (tanda tanya)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Say Hello Function</a:t>
            </a:r>
            <a:endParaRPr/>
          </a:p>
        </p:txBody>
      </p:sp>
      <p:pic>
        <p:nvPicPr>
          <p:cNvPr id="776" name="Google Shape;776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039100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Sum Function</a:t>
            </a:r>
            <a:endParaRPr/>
          </a:p>
        </p:txBody>
      </p:sp>
      <p:pic>
        <p:nvPicPr>
          <p:cNvPr id="782" name="Google Shape;782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451188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3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Overloading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Overloading</a:t>
            </a:r>
            <a:endParaRPr/>
          </a:p>
        </p:txBody>
      </p:sp>
      <p:sp>
        <p:nvSpPr>
          <p:cNvPr id="793" name="Google Shape;793;p1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Function Overloading adalah kemampuan untuk membuat Function dengan nama yang sama, namun dengan parameter input yang berbeda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JavaScript, membuat satu Function dengan input data yang berbeda dan output yang bisa menghasil data yang berbeda sudah biasa dilakukan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hal ini kadang bisa membuat sebuah Function tidak aman, karena bisa menghasilkan berbeda-beda tipe data.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TypeScript memberikan kemampuan Function Overloading, agar pembuatan Function seperti ini lebih aman dilakukan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Function Overloading</a:t>
            </a:r>
            <a:endParaRPr/>
          </a:p>
        </p:txBody>
      </p:sp>
      <p:pic>
        <p:nvPicPr>
          <p:cNvPr id="799" name="Google Shape;799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012683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Sebagai Parameter</a:t>
            </a:r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Function sebagai Parameter</a:t>
            </a:r>
            <a:endParaRPr/>
          </a:p>
        </p:txBody>
      </p:sp>
      <p:sp>
        <p:nvSpPr>
          <p:cNvPr id="810" name="Google Shape;810;p1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Sama seperti di JavaScript, di TypeScript juga kita bisa gunakan Function sebagai parameter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sudah sering kita lakukan, biasanya ketika memanggil function yang membutuhkan callback function lainnya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TypeScript parameter yang berupa function, perlu kita beri tahu bahwa parameter tersebut adalah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gunakan Function Interface, atau bisa langsung sebutkan pada parameter nya, jumlah parameter dan return value function yang dibutuhkan</a:t>
            </a:r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Function sebagai Parameter</a:t>
            </a:r>
            <a:endParaRPr/>
          </a:p>
        </p:txBody>
      </p:sp>
      <p:pic>
        <p:nvPicPr>
          <p:cNvPr id="816" name="Google Shape;816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796473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Anonymous Function</a:t>
            </a:r>
            <a:endParaRPr/>
          </a:p>
        </p:txBody>
      </p:sp>
      <p:pic>
        <p:nvPicPr>
          <p:cNvPr id="822" name="Google Shape;822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199" cy="2346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Arrow Function</a:t>
            </a:r>
            <a:endParaRPr/>
          </a:p>
        </p:txBody>
      </p:sp>
      <p:pic>
        <p:nvPicPr>
          <p:cNvPr id="828" name="Google Shape;828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143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1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If Statement</a:t>
            </a:r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If Statement</a:t>
            </a:r>
            <a:endParaRPr/>
          </a:p>
        </p:txBody>
      </p:sp>
      <p:sp>
        <p:nvSpPr>
          <p:cNvPr id="839" name="Google Shape;839;p14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Sama seperti di JavaScript, di TypeScript juga kita bisa melakukan if statement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If statement di TypeScript sama seperti If statement di JavaScript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4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If Statement</a:t>
            </a:r>
            <a:endParaRPr/>
          </a:p>
        </p:txBody>
      </p:sp>
      <p:pic>
        <p:nvPicPr>
          <p:cNvPr id="845" name="Google Shape;845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188527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4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Ternary Operator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Ternary Operator</a:t>
            </a:r>
            <a:endParaRPr/>
          </a:p>
        </p:txBody>
      </p:sp>
      <p:sp>
        <p:nvSpPr>
          <p:cNvPr id="856" name="Google Shape;856;p14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Ternary operator yang dilakukan di JavaScript juga bisa dilakukan di TypeScript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Ternary Operator</a:t>
            </a:r>
            <a:endParaRPr/>
          </a:p>
        </p:txBody>
      </p:sp>
      <p:pic>
        <p:nvPicPr>
          <p:cNvPr id="862" name="Google Shape;862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1731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Switch</a:t>
            </a:r>
            <a:r>
              <a:rPr lang="id"/>
              <a:t> Statement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Switch Statement</a:t>
            </a:r>
            <a:endParaRPr/>
          </a:p>
        </p:txBody>
      </p:sp>
      <p:sp>
        <p:nvSpPr>
          <p:cNvPr id="873" name="Google Shape;873;p1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Switch statement di TypeScript juga sama seperti di JavaScript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Switch Statement</a:t>
            </a:r>
            <a:endParaRPr/>
          </a:p>
        </p:txBody>
      </p:sp>
      <p:pic>
        <p:nvPicPr>
          <p:cNvPr id="879" name="Google Shape;879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252347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4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 Loop</a:t>
            </a: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For Loop</a:t>
            </a:r>
            <a:endParaRPr/>
          </a:p>
        </p:txBody>
      </p:sp>
      <p:sp>
        <p:nvSpPr>
          <p:cNvPr id="890" name="Google Shape;890;p1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Perulangan For di TypeScript sama saja seperti perulangan For di JavaScript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TypeScript mendukung semua for loop seperti for loop biasa, for in, dan for of</a:t>
            </a:r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For Loop</a:t>
            </a:r>
            <a:endParaRPr/>
          </a:p>
        </p:txBody>
      </p:sp>
      <p:pic>
        <p:nvPicPr>
          <p:cNvPr id="896" name="Google Shape;896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585558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5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While Loop</a:t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While Loop</a:t>
            </a:r>
            <a:endParaRPr/>
          </a:p>
        </p:txBody>
      </p:sp>
      <p:sp>
        <p:nvSpPr>
          <p:cNvPr id="907" name="Google Shape;907;p15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TypeScript juga mendukung perulangan While Loop seperti di JavaScript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While Loop</a:t>
            </a:r>
            <a:endParaRPr/>
          </a:p>
        </p:txBody>
      </p:sp>
      <p:pic>
        <p:nvPicPr>
          <p:cNvPr id="913" name="Google Shape;913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1951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5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Do </a:t>
            </a:r>
            <a:r>
              <a:rPr lang="id"/>
              <a:t>While Loop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Do While Loop</a:t>
            </a:r>
            <a:endParaRPr/>
          </a:p>
        </p:txBody>
      </p:sp>
      <p:sp>
        <p:nvSpPr>
          <p:cNvPr id="924" name="Google Shape;924;p15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TypeScript juga mendukung perulangan menggunakan Do While Loop</a:t>
            </a: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Do While Loop</a:t>
            </a:r>
            <a:endParaRPr/>
          </a:p>
        </p:txBody>
      </p:sp>
      <p:pic>
        <p:nvPicPr>
          <p:cNvPr id="930" name="Google Shape;930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102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5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Break dan Continue</a:t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Break dan Continue</a:t>
            </a:r>
            <a:endParaRPr/>
          </a:p>
        </p:txBody>
      </p:sp>
      <p:sp>
        <p:nvSpPr>
          <p:cNvPr id="941" name="Google Shape;941;p1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Seperti di JavaScript, pada perulangan While atau Do While, kita sering menggunakan kata kunci break dan continue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juga bisa dilakukan di TypeScript</a:t>
            </a: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Break dan Continue</a:t>
            </a:r>
            <a:endParaRPr/>
          </a:p>
        </p:txBody>
      </p:sp>
      <p:pic>
        <p:nvPicPr>
          <p:cNvPr id="947" name="Google Shape;947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334033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6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JavaScript Feature</a:t>
            </a:r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JavaScript Feature</a:t>
            </a:r>
            <a:endParaRPr/>
          </a:p>
        </p:txBody>
      </p:sp>
      <p:sp>
        <p:nvSpPr>
          <p:cNvPr id="958" name="Google Shape;958;p16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Semua fitur yang pernah kita bahas di kelas JavaScript, bisa dilakukan di TypeScript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Seperti Operator Matematika, Perbandingan, Logika, String Template, Optional Chaining, With Statement, Default Parameter, Function Generator, Getter Setter, Destructuring, Modules, Standard Library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Yang membedakan adalah, pada fitur TypeScript, karena Strongly Type, kita harus menentukan tipe data dari tiap variabel dan parameter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kasus jika kita ingin seperti di JavaScript, dimana variabel atau parameter bisa menggunakan tipe data apapun, maka kita harus menggunakan tipe data Any di TypeScript</a:t>
            </a:r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6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969" name="Google Shape;969;p16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TypeScript Object Oriented Programming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TypeScript Generic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TypeScript Decorator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